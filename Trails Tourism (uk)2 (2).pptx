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Algerian" panose="04020705040A02060702" pitchFamily="82" charset="0"/>
      <p:regular r:id="rId13"/>
    </p:embeddedFont>
    <p:embeddedFont>
      <p:font typeface="Outfit"/>
      <p:bold r:id="rId14"/>
    </p:embeddedFont>
    <p:embeddedFont>
      <p:font typeface="Plus Jakarta Sans"/>
      <p:bold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clever-piroshki-ad8f8b.netlify.app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58605" y="2003077"/>
            <a:ext cx="3074789" cy="285750"/>
          </a:xfrm>
          <a:prstGeom prst="roundRect">
            <a:avLst>
              <a:gd name="adj" fmla="val 50000"/>
            </a:avLst>
          </a:prstGeom>
          <a:solidFill>
            <a:srgbClr val="444733"/>
          </a:solidFill>
          <a:ln w="9525">
            <a:solidFill>
              <a:srgbClr val="6D6D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38512" y="4083248"/>
            <a:ext cx="5514975" cy="771525"/>
          </a:xfrm>
          <a:prstGeom prst="roundRect">
            <a:avLst>
              <a:gd name="adj" fmla="val 14814"/>
            </a:avLst>
          </a:prstGeom>
          <a:solidFill>
            <a:srgbClr val="2C3E35"/>
          </a:solidFill>
          <a:ln w="9525">
            <a:solidFill>
              <a:srgbClr val="3E4F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630" y="2088802"/>
            <a:ext cx="122039" cy="123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64756" y="2060227"/>
            <a:ext cx="346248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3D5B5"/>
                </a:solidFill>
                <a:latin typeface="Plus Jakarta Sans"/>
              </a:rPr>
              <a:t>DIGITAL TRIBAL TOURISM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22156" y="2479327"/>
            <a:ext cx="3947684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830"/>
              </a:lnSpc>
              <a:defRPr/>
            </a:pPr>
            <a:r>
              <a:rPr sz="4200" b="1" i="0" u="none" dirty="0">
                <a:solidFill>
                  <a:srgbClr val="FFFFFF"/>
                </a:solidFill>
                <a:latin typeface="Outfit"/>
              </a:rPr>
              <a:t> TRIBAL T</a:t>
            </a:r>
            <a:r>
              <a:rPr lang="en-US" sz="4200" b="1" i="0" u="none" dirty="0">
                <a:solidFill>
                  <a:srgbClr val="FFFFFF"/>
                </a:solidFill>
                <a:latin typeface="Outfit"/>
              </a:rPr>
              <a:t>OURISM</a:t>
            </a:r>
            <a:endParaRPr sz="4200" b="1" i="0" u="none" dirty="0">
              <a:solidFill>
                <a:srgbClr val="FFFFFF"/>
              </a:solidFill>
              <a:latin typeface="Outfi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4437" y="3206948"/>
            <a:ext cx="97631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37"/>
              </a:lnSpc>
            </a:pPr>
            <a:r>
              <a:rPr sz="1425" b="0" i="0" u="none">
                <a:solidFill>
                  <a:srgbClr val="E0ECE4"/>
                </a:solidFill>
                <a:latin typeface="Plus Jakarta Sans"/>
              </a:rPr>
              <a:t>A Digital Tribal Tourism &amp; Cultural Discovery Website for Alluri Sitharama Raju District, Andhra Pradesh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7765" y="4264223"/>
            <a:ext cx="6036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3D5B5"/>
                </a:solidFill>
                <a:latin typeface="Plus Jakarta Sans"/>
              </a:rPr>
              <a:t>PROJECT 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537" y="4492823"/>
            <a:ext cx="1381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Rohinilavanya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5362" y="4492823"/>
            <a:ext cx="1000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Mounika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1187" y="4492823"/>
            <a:ext cx="9810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Himagiri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4492823"/>
            <a:ext cx="10953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Ruthin Sai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39037" y="4492823"/>
            <a:ext cx="11144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FFFFF"/>
                </a:solidFill>
                <a:latin typeface="Plus Jakarta Sans"/>
              </a:rPr>
              <a:t>• Udaykiran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743200"/>
            <a:ext cx="762000" cy="38100"/>
          </a:xfrm>
          <a:prstGeom prst="rect">
            <a:avLst/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39380" y="2990850"/>
            <a:ext cx="591323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1B382B"/>
                </a:solidFill>
                <a:latin typeface="Outfit"/>
              </a:rPr>
              <a:t>01.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1156" y="3733800"/>
            <a:ext cx="8929687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25"/>
              </a:lnSpc>
            </a:pPr>
            <a:r>
              <a:rPr sz="1500" b="0" i="0" u="none">
                <a:solidFill>
                  <a:srgbClr val="526357"/>
                </a:solidFill>
                <a:latin typeface="Plus Jakarta Sans"/>
              </a:rPr>
              <a:t>A modern web platform dedicated to discovering Araku tribal tourism, rich indigenous heritage, local authentic foods, and immersive travel experiences.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3875" y="2646015"/>
            <a:ext cx="3575000" cy="2213520"/>
          </a:xfrm>
          <a:prstGeom prst="roundRect">
            <a:avLst>
              <a:gd name="adj" fmla="val 5163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8425" y="2646015"/>
            <a:ext cx="3575000" cy="2213520"/>
          </a:xfrm>
          <a:prstGeom prst="roundRect">
            <a:avLst>
              <a:gd name="adj" fmla="val 5163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92975" y="2646015"/>
            <a:ext cx="3575000" cy="2213520"/>
          </a:xfrm>
          <a:prstGeom prst="roundRect">
            <a:avLst>
              <a:gd name="adj" fmla="val 5163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2903190"/>
            <a:ext cx="476250" cy="4762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8450" y="2903190"/>
            <a:ext cx="476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000" y="2903190"/>
            <a:ext cx="476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036540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3225" y="3036540"/>
            <a:ext cx="26670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6350" y="3036540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3531840"/>
            <a:ext cx="41671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Scattered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893790"/>
            <a:ext cx="32702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Details about tourist places, Araku tribal heritage, food, and transport in ASR district are hard to find in a single place.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8450" y="3531840"/>
            <a:ext cx="416712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Low Digital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450" y="3893790"/>
            <a:ext cx="32702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Authentic cultural experiences like traditional Dhimsa tribal dances and local foods lack dynamic online presence.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000" y="3531840"/>
            <a:ext cx="389899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Guide Navigation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000" y="3893790"/>
            <a:ext cx="3270200" cy="70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Visitors struggle to navigate local tourist spots or easily connect with authorized tribal tour guides online.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8350"/>
            <a:ext cx="53816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2066925"/>
            <a:ext cx="5324475" cy="3371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779514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366194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95287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539555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2398514"/>
            <a:ext cx="70633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1B382B"/>
                </a:solidFill>
                <a:latin typeface="Outfit"/>
              </a:rPr>
              <a:t>Unified Tribal Tourism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76046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A single interactive platform combining tourist spot content, Google Maps, and video highlights.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34714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Interactive booking requests for verified local tribal guides in Araku Valley.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93382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Glassmorphism UI design with smooth navigation and dynamic place cards.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52050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Promotes sustainable ecotourism benefiting local indigenous communities.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23875" y="2089100"/>
            <a:ext cx="11144250" cy="3327350"/>
          </a:xfrm>
          <a:prstGeom prst="roundRect">
            <a:avLst>
              <a:gd name="adj" fmla="val 3435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2649587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31343" y="2649587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3200102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131343" y="3200102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3750617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31343" y="3750617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4301132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31343" y="4301132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4851648"/>
            <a:ext cx="2597943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31343" y="4851648"/>
            <a:ext cx="8527256" cy="9525"/>
          </a:xfrm>
          <a:prstGeom prst="rect">
            <a:avLst/>
          </a:prstGeom>
          <a:solidFill>
            <a:srgbClr val="F0E8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056435"/>
            <a:ext cx="1714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505920"/>
            <a:ext cx="1714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854374"/>
            <a:ext cx="1143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404889"/>
            <a:ext cx="11430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3955405"/>
            <a:ext cx="1333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4505920"/>
            <a:ext cx="1714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5056435"/>
            <a:ext cx="171450" cy="152400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208771"/>
              </p:ext>
            </p:extLst>
          </p:nvPr>
        </p:nvGraphicFramePr>
        <p:xfrm>
          <a:off x="533400" y="2098625"/>
          <a:ext cx="10163905" cy="3308300"/>
        </p:xfrm>
        <a:graphic>
          <a:graphicData uri="http://schemas.openxmlformats.org/drawingml/2006/table">
            <a:tbl>
              <a:tblPr/>
              <a:tblGrid>
                <a:gridCol w="1636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7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FFFFFF"/>
                          </a:solidFill>
                          <a:latin typeface="Outfit"/>
                        </a:rPr>
                        <a:t>Technology /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8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 i="0" u="none" dirty="0">
                          <a:solidFill>
                            <a:srgbClr val="FFFFFF"/>
                          </a:solidFill>
                          <a:latin typeface="Outfit"/>
                        </a:rPr>
                        <a:t>Role in Tribal T</a:t>
                      </a:r>
                      <a:r>
                        <a:rPr lang="en-US" sz="1275" b="1" i="0" u="none" dirty="0">
                          <a:solidFill>
                            <a:srgbClr val="FFFFFF"/>
                          </a:solidFill>
                          <a:latin typeface="Outfit"/>
                        </a:rPr>
                        <a:t>ourism</a:t>
                      </a:r>
                      <a:r>
                        <a:rPr sz="1275" b="1" i="0" u="none" dirty="0">
                          <a:solidFill>
                            <a:srgbClr val="FFFFFF"/>
                          </a:solidFill>
                          <a:latin typeface="Outfit"/>
                        </a:rPr>
                        <a:t> Platform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38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</a:t>
                      </a:r>
                      <a:r>
                        <a:rPr lang="en-US"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         </a:t>
                      </a:r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HTML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Semantic structure, navigation sidebar, forms, and interactive content containers.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</a:t>
                      </a:r>
                      <a:r>
                        <a:rPr lang="en-US"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         C</a:t>
                      </a:r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SS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Glassmorphism visual effects, responsive layout grid, animations, and custom theme.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</a:t>
                      </a:r>
                      <a:r>
                        <a:rPr lang="en-US"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         </a:t>
                      </a:r>
                      <a:r>
                        <a:rPr sz="1200" b="1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JavaScript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Dynamic card rendering, destination search logic, form validation, and  updates.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138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 Google Maps API</a:t>
                      </a:r>
                    </a:p>
                  </a:txBody>
                  <a:tcPr marL="3619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Direct spot search and verified location opening in interactive external tabs.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1385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D4A41"/>
                          </a:solidFill>
                          <a:latin typeface="Plus Jakarta Sans"/>
                        </a:rPr>
                        <a:t> Media Integration</a:t>
                      </a:r>
                    </a:p>
                  </a:txBody>
                  <a:tcPr marL="3619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Embedded video links for tribal dances (</a:t>
                      </a:r>
                      <a:r>
                        <a:rPr sz="1200" b="0" i="0" u="none" dirty="0" err="1">
                          <a:solidFill>
                            <a:srgbClr val="3D4A41"/>
                          </a:solidFill>
                          <a:latin typeface="Plus Jakarta Sans"/>
                        </a:rPr>
                        <a:t>Dhimsa</a:t>
                      </a:r>
                      <a:r>
                        <a:rPr sz="1200" b="0" i="0" u="none" dirty="0">
                          <a:solidFill>
                            <a:srgbClr val="3D4A41"/>
                          </a:solidFill>
                          <a:latin typeface="Plus Jakarta Sans"/>
                        </a:rPr>
                        <a:t>), foods, and scenic highlights.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Technology Stack Used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85825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3875" y="476250"/>
            <a:ext cx="7063382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Tourist Destinations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2791122"/>
            <a:ext cx="70633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Exploring Scenic Wonders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3153072"/>
            <a:ext cx="54768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D4A41"/>
                </a:solidFill>
                <a:latin typeface="Plus Jakarta Sans"/>
              </a:rPr>
              <a:t>Dynamic destination cards allow travelers to explore iconic spots across Alluri Sitharama Raju District including </a:t>
            </a:r>
            <a:r>
              <a:rPr sz="1275" b="1" i="0" u="none">
                <a:solidFill>
                  <a:srgbClr val="3D4A41"/>
                </a:solidFill>
                <a:latin typeface="Plus Jakarta Sans"/>
              </a:rPr>
              <a:t>Borra Caves, Araku Valley, Ananthagiri Plantations, and Katiki Waterfalls</a:t>
            </a:r>
            <a:r>
              <a:rPr sz="1275" b="0" i="0" u="none">
                <a:solidFill>
                  <a:srgbClr val="3D4A41"/>
                </a:solidFill>
                <a:latin typeface="Plus Jakarta Sans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4063305"/>
            <a:ext cx="54768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3D4A41"/>
                </a:solidFill>
                <a:latin typeface="Plus Jakarta Sans"/>
              </a:rPr>
              <a:t>Each destination card provides high-resolution visuals, key location highlights, and instant Google Maps directions.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8350"/>
            <a:ext cx="53816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2066925"/>
            <a:ext cx="5324475" cy="3371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897534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248025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83470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421385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Tribal Culture &amp; 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2516534"/>
            <a:ext cx="70633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Preserving Indigenous Heritage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878484"/>
            <a:ext cx="6460331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Dedicated cultural section showcasing traditional </a:t>
            </a:r>
            <a:r>
              <a:rPr sz="1200" b="1" i="0" u="none">
                <a:solidFill>
                  <a:srgbClr val="3D4A41"/>
                </a:solidFill>
                <a:latin typeface="Plus Jakarta Sans"/>
              </a:rPr>
              <a:t>Dhimsa Folk Dance</a:t>
            </a:r>
            <a:r>
              <a:rPr sz="1200" b="0" i="0" u="none">
                <a:solidFill>
                  <a:srgbClr val="3D4A41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22897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Highlights community rituals, tribal musical instruments, and traditional attire.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81565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Integrated video links for immersive digital viewing of community celebrations.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40233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Promotes authentic cultural appreciation for indigenous Eastern Ghats tribes.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038350"/>
            <a:ext cx="53816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2066925"/>
            <a:ext cx="5324475" cy="3371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897534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484215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83470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421385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Authentic Tribal Delicacies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6500" y="2516534"/>
            <a:ext cx="59055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Local Culinary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87848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Features famous local delicacies including organic </a:t>
            </a:r>
            <a:r>
              <a:rPr sz="1200" b="1" i="0" u="none">
                <a:solidFill>
                  <a:srgbClr val="3D4A41"/>
                </a:solidFill>
                <a:latin typeface="Plus Jakarta Sans"/>
              </a:rPr>
              <a:t>Araku Bamboo Chicken</a:t>
            </a:r>
            <a:r>
              <a:rPr sz="1200" b="0" i="0" u="none">
                <a:solidFill>
                  <a:srgbClr val="3D4A41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465165"/>
            <a:ext cx="5638800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Promotes healthy millet-based traditional tribal recipes and dishes.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81565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Highlights globally renowned organic Araku hill coffee plantations and products.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40233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Connects visitors directly to local tribal food hubs and authentic culinary spots.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8350"/>
            <a:ext cx="5381625" cy="3429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075" y="2066925"/>
            <a:ext cx="5324475" cy="3371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2779514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366194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3952875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75" y="4539555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Coffee &amp; Ecotourism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2398514"/>
            <a:ext cx="706338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B382B"/>
                </a:solidFill>
                <a:latin typeface="Outfit"/>
              </a:rPr>
              <a:t>Araku Organic Coffee Heritage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276046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Showcases organic coffee plantations cultivated by indigenous tribal farmers.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3347144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Provides location guidance for visiting coffee museums and tasting centers.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393382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Supports local tribal economy through direct sustainable ecotourism promotion.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4520505"/>
            <a:ext cx="5210175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Integrates eco-friendly travel tips and conservation awareness for visitors.</a:t>
            </a:r>
          </a:p>
        </p:txBody>
      </p:sp>
    </p:spTree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" y="-9144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386137" y="2482155"/>
            <a:ext cx="5419725" cy="5238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362" y="2672655"/>
            <a:ext cx="190500" cy="152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33500" y="428625"/>
            <a:ext cx="9525000" cy="25774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1" u="none">
                <a:solidFill>
                  <a:srgbClr val="2D5A44"/>
                </a:solidFill>
                <a:latin typeface="Plus Jakarta Sans"/>
              </a:rPr>
              <a:t>“Explore nature. Experience culture. Discover Araku tribal tourism.”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34434" y="803529"/>
            <a:ext cx="2523127" cy="66941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350" b="1" i="0" u="none" dirty="0">
                <a:solidFill>
                  <a:srgbClr val="1B382B"/>
                </a:solidFill>
                <a:latin typeface="Outfit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1771650"/>
            <a:ext cx="9525000" cy="472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Adivasi Tribal Trails successfully transforms tourism information into an interactive, modern digital portal—empowering local tribal communities and guiding tourists effortlessly.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5371" y="2634555"/>
            <a:ext cx="6241256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B382B"/>
                </a:solidFill>
                <a:latin typeface="Plus Jakarta Sans"/>
              </a:rPr>
              <a:t>Alluri Sitharama Raju District • Digital Tribal Tourism Project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2331-024B-F355-805C-1A0DDAE48519}"/>
              </a:ext>
            </a:extLst>
          </p:cNvPr>
          <p:cNvSpPr txBox="1"/>
          <p:nvPr/>
        </p:nvSpPr>
        <p:spPr>
          <a:xfrm>
            <a:off x="7431786" y="5783580"/>
            <a:ext cx="6158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</a:rPr>
              <a:t>https://clever-piroshki-ad8f8b.netlify.app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77EF63-92DB-FDCB-7F96-0FFA4E70CA29}"/>
              </a:ext>
            </a:extLst>
          </p:cNvPr>
          <p:cNvSpPr txBox="1"/>
          <p:nvPr/>
        </p:nvSpPr>
        <p:spPr>
          <a:xfrm>
            <a:off x="2975371" y="3694176"/>
            <a:ext cx="6863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>
                <a:solidFill>
                  <a:schemeClr val="accent3">
                    <a:lumMod val="50000"/>
                  </a:schemeClr>
                </a:solidFill>
                <a:latin typeface="Algerian" panose="04020705040A02060702" pitchFamily="82" charset="0"/>
              </a:rPr>
              <a:t>THANK YOU</a:t>
            </a:r>
            <a:endParaRPr lang="en-IN" sz="8000" b="1" dirty="0">
              <a:solidFill>
                <a:schemeClr val="accent3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838200"/>
            <a:ext cx="76200" cy="285750"/>
          </a:xfrm>
          <a:prstGeom prst="roundRect">
            <a:avLst>
              <a:gd name="adj" fmla="val 50000"/>
            </a:avLst>
          </a:prstGeom>
          <a:solidFill>
            <a:srgbClr val="D4A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752600" y="1828800"/>
            <a:ext cx="8686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752600" y="2600325"/>
            <a:ext cx="8686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52600" y="3371850"/>
            <a:ext cx="8686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52600" y="4143375"/>
            <a:ext cx="86868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52600" y="2590800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52600" y="2590800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52600" y="3362325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52600" y="3362325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52600" y="4133850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752600" y="4133850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52600" y="4905375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2600" y="4905375"/>
            <a:ext cx="86868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971675"/>
            <a:ext cx="857250" cy="476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74320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2600" y="3514725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4286250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0" y="5057775"/>
            <a:ext cx="857250" cy="4762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875" y="428625"/>
            <a:ext cx="11668125" cy="4095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B382B"/>
                </a:solidFill>
                <a:latin typeface="Outfit"/>
              </a:rPr>
              <a:t>Image Sources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7975" y="1971972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https://www.trawell.in/admin/images/upload/249844919BorraCaves_Main.jpg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7975" y="2211437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www.trawell.in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7975" y="2743497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http://www.trawell.in/admin/images/upload/249844317KatikiFalls_Main.jpg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7975" y="2982962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www.trawell.in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7975" y="3515022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https://i.ytimg.com/vi/rqPjSvMX9uQ/maxresdefault.jpg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47975" y="3754487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www.youtube.com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7975" y="4286547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http://desitraveler.com/wp-content/uploads/2013/06/Bamboo-Chicken-Araku-in-the-Bamboo.jpg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47975" y="4526012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desitraveler.com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7975" y="5058072"/>
            <a:ext cx="9344025" cy="1918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D4A41"/>
                </a:solidFill>
                <a:latin typeface="Plus Jakarta Sans"/>
              </a:rPr>
              <a:t>https://images.travelandleisureasia.com/wp-content/uploads/sites/2/2023/05/15224353/Featured-Inside-21-1600x900.jpg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7975" y="5297537"/>
            <a:ext cx="9344025" cy="2361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3D4A41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www.travelandleisureasia.com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654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Algerian</vt:lpstr>
      <vt:lpstr>Outfit</vt:lpstr>
      <vt:lpstr>Plus Jakarta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Pradani Bujji Babu</cp:lastModifiedBy>
  <cp:revision>3</cp:revision>
  <dcterms:created xsi:type="dcterms:W3CDTF">2013-01-27T09:14:16Z</dcterms:created>
  <dcterms:modified xsi:type="dcterms:W3CDTF">2026-09-26T08:14:12Z</dcterms:modified>
  <cp:category/>
</cp:coreProperties>
</file>